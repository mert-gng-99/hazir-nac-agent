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A2420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A2420"/>
                </a:solidFill>
                <a:latin typeface="Calibri"/>
              </a:rPr>
              <a:t>Our model of minutes to a complete headcount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Minutes</c:v>
                </c:pt>
              </c:strCache>
            </c:strRef>
          </c:tx>
          <c:spPr>
            <a:solidFill>
              <a:srgbClr val="6B58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A242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58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0A3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Paper muster</c:v>
                  </c:pt>
                  <c:pt idx="1">
                    <c:v>With Hazir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A242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6E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AE6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E6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Hazir is the word a worker says at roll call. It means present. Open with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count after an alarm. Every safety manager in the room has lived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hardware is the line that wins the safety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words shift hours only. Every worker representative asks this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is the demo moment. Alarm to a full count in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Mega projects are named in the theme. Slicing is what a giga site can actually afford.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private network card matters. Giga sites are exactly where private 5G lands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hardware beats every tag vendor in the room on cost and on upkeep.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Stopped days cost more than the product. Say that number out loud in a pilot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banned phones card shows you have thought about a real refinery. Do not drop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insurer is the quiet buyer. They push the contractor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line and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6B5844">
              <a:alpha val="55000"/>
            </a:srgbClr>
          </a:solidFill>
          <a:ln w="12700">
            <a:solidFill>
              <a:srgbClr val="6B584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06240"/>
            <a:ext cx="2743200" cy="2743200"/>
          </a:xfrm>
          <a:prstGeom prst="ellipse">
            <a:avLst/>
          </a:prstGeom>
          <a:solidFill>
            <a:srgbClr val="F0A32B">
              <a:alpha val="30000"/>
            </a:srgbClr>
          </a:solidFill>
          <a:ln w="12700">
            <a:solidFill>
              <a:srgbClr val="F0A32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0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 IGNITE HACKATHON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8595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Hazir</a:t>
            </a:r>
            <a:endParaRPr lang="en-US" sz="68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E0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that knows who is still inside the site, in the one minute when that answer decides who lives.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22960" y="4617720"/>
            <a:ext cx="6035040" cy="566928"/>
          </a:xfrm>
          <a:prstGeom prst="roundRect">
            <a:avLst>
              <a:gd name="adj" fmla="val 48387"/>
            </a:avLst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6177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   Smart Cities, Urban Safety and Mega Projects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806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GSMA Open Gateway CAMARA APIs and Nokia Network as Code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0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muster list is on paper and the site is huge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3444240" cy="1417320"/>
          </a:xfrm>
          <a:prstGeom prst="roundRect">
            <a:avLst>
              <a:gd name="adj" fmla="val 774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92224"/>
            <a:ext cx="298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58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10,000+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432304"/>
            <a:ext cx="298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can share one giga project site in the Gulf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8640" y="1645920"/>
            <a:ext cx="3444240" cy="1417320"/>
          </a:xfrm>
          <a:prstGeom prst="roundRect">
            <a:avLst>
              <a:gd name="adj" fmla="val 774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87240" y="1792224"/>
            <a:ext cx="298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58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87240" y="2432304"/>
            <a:ext cx="298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still how most sites count people after an alarm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22920" y="1645920"/>
            <a:ext cx="3444240" cy="1417320"/>
          </a:xfrm>
          <a:prstGeom prst="roundRect">
            <a:avLst>
              <a:gd name="adj" fmla="val 774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1520" y="1792224"/>
            <a:ext cx="298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58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hour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51520" y="2432304"/>
            <a:ext cx="298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pass before anyone knows who is missing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3502152"/>
            <a:ext cx="201168" cy="201168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3429000"/>
            <a:ext cx="104973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fire, a gas leak, a collapse or a storm, the site has to know who came out. Today that count is a supervisor walking a line of tired people with a clipboard.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58368" y="4160520"/>
            <a:ext cx="201168" cy="201168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087368"/>
            <a:ext cx="104973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is the quiet killer. Work bans exist, but a manager cannot see who is still standing in open sun on a far corner of a site that spans many square kilometres.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818888"/>
            <a:ext cx="201168" cy="201168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4745736"/>
            <a:ext cx="104973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control stops at the gate. Once a worker is inside, nobody knows if he walked into a crane path or an excavation he holds no ticket for.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58368" y="5477256"/>
            <a:ext cx="201168" cy="201168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5404104"/>
            <a:ext cx="104973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worker stops answering, the team cannot tell a flat battery from a man on the ground behind a container.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0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 is already in the network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444240" cy="182880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197510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956816"/>
            <a:ext cx="252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headcount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50392" y="2395728"/>
            <a:ext cx="2932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enrolled line carries a fence for its zone, so the moment an alarm sounds the agent already knows who left and who did not.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58640" y="1737360"/>
            <a:ext cx="3444240" cy="182880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4672" y="197510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44440" y="1956816"/>
            <a:ext cx="252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that check tickets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14672" y="2395728"/>
            <a:ext cx="2932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worker enters a zone he is not cleared for, the agent tells the supervisor of that zone, not the worker, who may not read the language.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2920" y="1737360"/>
            <a:ext cx="3444240" cy="182880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78952" y="197510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08720" y="1956816"/>
            <a:ext cx="252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 becomes an address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378952" y="2395728"/>
            <a:ext cx="2932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that stops answering during a heat alert or an incident turns into a search job with a last known area.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10972800" cy="1417320"/>
          </a:xfrm>
          <a:prstGeom prst="roundRect">
            <a:avLst>
              <a:gd name="adj" fmla="val 7742"/>
            </a:avLst>
          </a:prstGeom>
          <a:solidFill>
            <a:srgbClr val="2A2420"/>
          </a:solidFill>
          <a:ln w="12700">
            <a:solidFill>
              <a:srgbClr val="2A24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069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for the judges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438912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site does not need a new badge, a new tag or a new app. Every worker already carries a line, and the network already knows which zone that line is in.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5486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layer is built only with the tools listed in the official Resource and Tooling Guide.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0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CONSENT IS EASY 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site already hands out the 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21792" y="1783080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64792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 is inducted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2039112"/>
            <a:ext cx="4462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signs a contract and gets a kit. On most Gulf sites the company line is already part of that kit.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" y="3154680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3136392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consent at induction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3410712"/>
            <a:ext cx="4462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in his own language, with the reason. It covers shift hours and incidents, nothing else.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" y="4526280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4507992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switches off at the gate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4782312"/>
            <a:ext cx="4462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nothing after he clocks out. No evenings, no rest days, no camp.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783080"/>
            <a:ext cx="5303520" cy="1965960"/>
          </a:xfrm>
          <a:prstGeom prst="roundRect">
            <a:avLst>
              <a:gd name="adj" fmla="val 4651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19672" y="202082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20025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consent is the hard part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19672" y="2441448"/>
            <a:ext cx="4791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geofencing works one line at a time and needs the consent of that line owner. A contracted workforce with a company issued line clears that in one signature at induction, which is why this idea can actually ship.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3640" y="4023360"/>
            <a:ext cx="5303520" cy="1965960"/>
          </a:xfrm>
          <a:prstGeom prst="roundRect">
            <a:avLst>
              <a:gd name="adj" fmla="val 4651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9672" y="426110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9440" y="42428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level, not a pin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519672" y="4681728"/>
            <a:ext cx="4791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asks which zone a line is in, not where a man is standing. That is enough to run a muster and far less than a camera already records.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0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LOGIC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agent decides, step by step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21792" y="1783080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64792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starts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2039112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switches on the zone fences for the lines on today plan and nothing else.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" y="3108960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3090672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ticket does not match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3364992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walks into a zone he is not cleared for. The zone supervisor gets one message.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" y="4434840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4416552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heat index climbs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4690872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checks who is still inside open air zones and asks the right supervisor to move them.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1783080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22008" y="1764792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alarm is declared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22008" y="2039112"/>
            <a:ext cx="4645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fence flips to a muster fence. The count starts in the same second, not after the walk.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108960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22008" y="3090672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splits in two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922008" y="3364992"/>
            <a:ext cx="4645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that left and answered are safe. Silent lines go to the search team with a last known area.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4434840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22008" y="4416552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is protected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22008" y="4690872"/>
            <a:ext cx="4645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cell fills with calls, so the agent puts rescue phones and drones on a reserved lane.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94360" y="5349240"/>
            <a:ext cx="10972800" cy="777240"/>
          </a:xfrm>
          <a:prstGeom prst="roundRect">
            <a:avLst>
              <a:gd name="adj" fmla="val 14118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this flow needs a worker to press anything. That is the whole point on a site where hands are full.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0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APIS ON NOKIA NETWORK AS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network signals across one shift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503170" cy="1691640"/>
          </a:xfrm>
          <a:prstGeom prst="roundRect">
            <a:avLst>
              <a:gd name="adj" fmla="val 5405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197510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956816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Geofencing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50392" y="2395728"/>
            <a:ext cx="19911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subscription per line and work zone, created at induction.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17570" y="1737360"/>
            <a:ext cx="2503170" cy="1691640"/>
          </a:xfrm>
          <a:prstGeom prst="roundRect">
            <a:avLst>
              <a:gd name="adj" fmla="val 5405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73602" y="197510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03370" y="1956816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Verification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73602" y="2395728"/>
            <a:ext cx="19911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yes or no about a zone. No track of the man is ever built.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40780" y="1737360"/>
            <a:ext cx="2503170" cy="1691640"/>
          </a:xfrm>
          <a:prstGeom prst="roundRect">
            <a:avLst>
              <a:gd name="adj" fmla="val 5405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6812" y="197510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26580" y="1956816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Retrieval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96812" y="2395728"/>
            <a:ext cx="19911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last known area, only for a line that stayed silent in an alert.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63990" y="1737360"/>
            <a:ext cx="2503170" cy="1691640"/>
          </a:xfrm>
          <a:prstGeom prst="roundRect">
            <a:avLst>
              <a:gd name="adj" fmla="val 5405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0022" y="197510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49790" y="1956816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Reachability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320022" y="2395728"/>
            <a:ext cx="19911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a dead phone from a worker who can be reached but is not moving.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" y="3721608"/>
            <a:ext cx="2503170" cy="1691640"/>
          </a:xfrm>
          <a:prstGeom prst="roundRect">
            <a:avLst>
              <a:gd name="adj" fmla="val 5405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0392" y="3959352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3941064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Insights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50392" y="4379976"/>
            <a:ext cx="19911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how full the cell is once every phone on site starts calling.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417570" y="3721608"/>
            <a:ext cx="2503170" cy="1691640"/>
          </a:xfrm>
          <a:prstGeom prst="roundRect">
            <a:avLst>
              <a:gd name="adj" fmla="val 5405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73602" y="3959352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03370" y="3941064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on Demand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3673602" y="4379976"/>
            <a:ext cx="19911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stable video for the medic and the incident commander.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40780" y="3721608"/>
            <a:ext cx="2503170" cy="1691640"/>
          </a:xfrm>
          <a:prstGeom prst="roundRect">
            <a:avLst>
              <a:gd name="adj" fmla="val 5405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96812" y="3959352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26580" y="3941064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Slice Management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496812" y="4379976"/>
            <a:ext cx="19911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a private lane for the emergency team during a large event.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9063990" y="3721608"/>
            <a:ext cx="2503170" cy="1691640"/>
          </a:xfrm>
          <a:prstGeom prst="roundRect">
            <a:avLst>
              <a:gd name="adj" fmla="val 5405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20022" y="3959352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49790" y="3941064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Device Attachment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9320022" y="4379976"/>
            <a:ext cx="19911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the right team phones and drones on that lane in seconds.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94360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eight are wired in the working prototype, network slicing included. 8 scenarios, all reaching the outcome they claim, at 77.5% less than calling every check.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0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 alarm to a full count in seconds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2455164" cy="1965960"/>
          </a:xfrm>
          <a:prstGeom prst="roundRect">
            <a:avLst>
              <a:gd name="adj" fmla="val 4651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84248"/>
            <a:ext cx="20894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systems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58952" y="2532888"/>
            <a:ext cx="2125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plan, the ticket register and the alarm panel the site already runs.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04388" y="2647188"/>
            <a:ext cx="274320" cy="237744"/>
          </a:xfrm>
          <a:prstGeom prst="rightArrow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33572" y="1783080"/>
            <a:ext cx="2455164" cy="1965960"/>
          </a:xfrm>
          <a:prstGeom prst="roundRect">
            <a:avLst>
              <a:gd name="adj" fmla="val 4651"/>
            </a:avLst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6452" y="1984248"/>
            <a:ext cx="20894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 agent core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598164" y="2532888"/>
            <a:ext cx="2125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0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zone map, the ticket rules, the muster state and every open case.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0" y="2647188"/>
            <a:ext cx="274320" cy="237744"/>
          </a:xfrm>
          <a:prstGeom prst="rightArrow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1783080"/>
            <a:ext cx="2455164" cy="1965960"/>
          </a:xfrm>
          <a:prstGeom prst="roundRect">
            <a:avLst>
              <a:gd name="adj" fmla="val 4651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1984248"/>
            <a:ext cx="20894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Nokia Network as Code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37376" y="2532888"/>
            <a:ext cx="2125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Keys, quotas, consent tokens and the simulator numbers for the demo.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82812" y="2647188"/>
            <a:ext cx="274320" cy="237744"/>
          </a:xfrm>
          <a:prstGeom prst="rightArrow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11996" y="1783080"/>
            <a:ext cx="2455164" cy="1965960"/>
          </a:xfrm>
          <a:prstGeom prst="roundRect">
            <a:avLst>
              <a:gd name="adj" fmla="val 4651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4876" y="1984248"/>
            <a:ext cx="20894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APIs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276588" y="2532888"/>
            <a:ext cx="2125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Geofencing, location, reachability, congestion, quality and slicing.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069080"/>
            <a:ext cx="3444240" cy="1463040"/>
          </a:xfrm>
          <a:prstGeom prst="roundRect">
            <a:avLst>
              <a:gd name="adj" fmla="val 6250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" y="430682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0160" y="4288536"/>
            <a:ext cx="252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screens only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50392" y="4727448"/>
            <a:ext cx="2932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zone board for the supervisor and a muster board for the incident commander. Nothing else during an event.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58640" y="4069080"/>
            <a:ext cx="3444240" cy="1463040"/>
          </a:xfrm>
          <a:prstGeom prst="roundRect">
            <a:avLst>
              <a:gd name="adj" fmla="val 6250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14672" y="430682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44440" y="4288536"/>
            <a:ext cx="252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private network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614672" y="4727448"/>
            <a:ext cx="2932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giga site runs its own network, the site becomes the API provider and the agent logic does not change.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22920" y="4069080"/>
            <a:ext cx="3444240" cy="1463040"/>
          </a:xfrm>
          <a:prstGeom prst="roundRect">
            <a:avLst>
              <a:gd name="adj" fmla="val 6250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78952" y="430682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08720" y="4288536"/>
            <a:ext cx="252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the demo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378952" y="4727448"/>
            <a:ext cx="2932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 numbers play a full alarm, a muster and a missing worker with no real SIM cards.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0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DIFFERENT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Tags count badges. Hazir counts people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303520" cy="3566160"/>
          </a:xfrm>
          <a:prstGeom prst="roundRect">
            <a:avLst>
              <a:gd name="adj" fmla="val 3077"/>
            </a:avLst>
          </a:prstGeom>
          <a:solidFill>
            <a:srgbClr val="F4F3F1"/>
          </a:solidFill>
          <a:ln w="12700">
            <a:solidFill>
              <a:srgbClr val="F4F3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safety today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587752"/>
            <a:ext cx="201168" cy="201168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8448" y="2514600"/>
            <a:ext cx="4279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badge at the gate, and nothing after that.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3300984"/>
            <a:ext cx="201168" cy="201168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8448" y="3227832"/>
            <a:ext cx="4279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tags and beacons that need charging and repair.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14400" y="4014216"/>
            <a:ext cx="201168" cy="201168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8448" y="3941064"/>
            <a:ext cx="4279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paper muster walked by a tired supervisor.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4727448"/>
            <a:ext cx="201168" cy="201168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4654296"/>
            <a:ext cx="42793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silent worker is a mystery until someone finds him.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63640" y="1783080"/>
            <a:ext cx="5303520" cy="3566160"/>
          </a:xfrm>
          <a:prstGeom prst="roundRect">
            <a:avLst>
              <a:gd name="adj" fmla="val 3077"/>
            </a:avLst>
          </a:prstGeom>
          <a:solidFill>
            <a:srgbClr val="2A2420"/>
          </a:solidFill>
          <a:ln w="12700">
            <a:solidFill>
              <a:srgbClr val="2A24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safety with Hazir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583680" y="2587752"/>
            <a:ext cx="182880" cy="182880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31152" y="25146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he already carries does the work, all shift.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83680" y="3300984"/>
            <a:ext cx="182880" cy="182880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31152" y="3227832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 to buy, charge, lose or repair.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583680" y="4014216"/>
            <a:ext cx="182880" cy="182880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31152" y="394106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exists before the alarm finishes sounding.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583680" y="4727448"/>
            <a:ext cx="182880" cy="182880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31152" y="4654296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silent line is the first name on the search list.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0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 is the first thing and the slowest thing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6035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49440" y="1783080"/>
            <a:ext cx="4617720" cy="1188720"/>
          </a:xfrm>
          <a:prstGeom prst="roundRect">
            <a:avLst>
              <a:gd name="adj" fmla="val 769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05472" y="202082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35240" y="200253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workers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205472" y="2441448"/>
            <a:ext cx="4105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arrives at the right corner of the site instead of searching the whole of it.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949440" y="3154680"/>
            <a:ext cx="4617720" cy="1188720"/>
          </a:xfrm>
          <a:prstGeom prst="roundRect">
            <a:avLst>
              <a:gd name="adj" fmla="val 769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205472" y="339242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35240" y="337413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contractors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205472" y="3813048"/>
            <a:ext cx="4105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safety record, fewer stopped days and a real answer for the client and the insurer.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949440" y="4526280"/>
            <a:ext cx="4617720" cy="1188720"/>
          </a:xfrm>
          <a:prstGeom prst="roundRect">
            <a:avLst>
              <a:gd name="adj" fmla="val 769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05472" y="476402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35240" y="474573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region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205472" y="5184648"/>
            <a:ext cx="4105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 fits ports, refineries, mines, airports and large event venues.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94360" y="5212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our own model, not measured data. We show the assumptions behind it in the demo.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0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GO WRONG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hard questions, answered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5326380" cy="1417320"/>
          </a:xfrm>
          <a:prstGeom prst="roundRect">
            <a:avLst>
              <a:gd name="adj" fmla="val 645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2057400"/>
            <a:ext cx="48143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on a personal foreign SIM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2377440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APIs are weak on roaming. The site issues the line with the kit, the same way it issues a helmet, and the agent flags anyone still on an outside line.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40780" y="1874520"/>
            <a:ext cx="5326380" cy="1417320"/>
          </a:xfrm>
          <a:prstGeom prst="roundRect">
            <a:avLst>
              <a:gd name="adj" fmla="val 645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6812" y="2057400"/>
            <a:ext cx="48143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feels like surveillance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6812" y="2377440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hours only, zone level and never a pin, and the worker can see every check made on him. It exists to get him out of a burning site alive.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547872"/>
            <a:ext cx="5326380" cy="1417320"/>
          </a:xfrm>
          <a:prstGeom prst="roundRect">
            <a:avLst>
              <a:gd name="adj" fmla="val 645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3730752"/>
            <a:ext cx="48143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is not exact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0392" y="4050792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location is not metres. A site is already divided into large zones, so a zone and a direction is exactly the answer a muster needs.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40780" y="3547872"/>
            <a:ext cx="5326380" cy="1417320"/>
          </a:xfrm>
          <a:prstGeom prst="roundRect">
            <a:avLst>
              <a:gd name="adj" fmla="val 645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6812" y="3730752"/>
            <a:ext cx="48143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Phones are banned in some zones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6812" y="4050792"/>
            <a:ext cx="48143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in refineries and blast areas. There the agent works on the supervisor line and the intrinsically safe handsets those crews already carry.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0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AND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monthly price per worker on site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444240" cy="1920240"/>
          </a:xfrm>
          <a:prstGeom prst="roundRect">
            <a:avLst>
              <a:gd name="adj" fmla="val 476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197510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956816"/>
            <a:ext cx="252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pays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50392" y="2395728"/>
            <a:ext cx="2932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contractors and safety departments pay per worker each month. One avoided stopped day pays for a year.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58640" y="1737360"/>
            <a:ext cx="3444240" cy="1920240"/>
          </a:xfrm>
          <a:prstGeom prst="roundRect">
            <a:avLst>
              <a:gd name="adj" fmla="val 476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4672" y="197510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44440" y="1956816"/>
            <a:ext cx="252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pushes it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14672" y="2395728"/>
            <a:ext cx="2932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Insurers and project clients ask for it, because a live muster lowers their own risk on a giga project.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2920" y="1737360"/>
            <a:ext cx="3444240" cy="1920240"/>
          </a:xfrm>
          <a:prstGeom prst="roundRect">
            <a:avLst>
              <a:gd name="adj" fmla="val 4762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78952" y="1975104"/>
            <a:ext cx="310896" cy="310896"/>
          </a:xfrm>
          <a:prstGeom prst="ellipse">
            <a:avLst/>
          </a:prstGeom>
          <a:solidFill>
            <a:srgbClr val="F0A32B"/>
          </a:solidFill>
          <a:ln w="12700">
            <a:solidFill>
              <a:srgbClr val="F0A3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08720" y="1956816"/>
            <a:ext cx="252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share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378952" y="2395728"/>
            <a:ext cx="2932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earn from every API call and can sell Hazir with the site line plan they already provide.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" y="3977640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3959352"/>
            <a:ext cx="10314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of the prototype phase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233672"/>
            <a:ext cx="10314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fences, induction consent and the live muster count on Nokia simulator numbers.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" y="4690872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4672584"/>
            <a:ext cx="10314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4946904"/>
            <a:ext cx="10314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checks per zone, the heat rule, the silent line search list and the reserved lane for the team.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" y="5404104"/>
            <a:ext cx="457200" cy="457200"/>
          </a:xfrm>
          <a:prstGeom prst="ellipse">
            <a:avLst/>
          </a:prstGeom>
          <a:solidFill>
            <a:srgbClr val="6B5844"/>
          </a:solidFill>
          <a:ln w="12700">
            <a:solidFill>
              <a:srgbClr val="6B58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5404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80160" y="5385816"/>
            <a:ext cx="10314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hackathon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80160" y="5660136"/>
            <a:ext cx="10314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6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paid pilot on a Turkish contractor site, then one Gulf giga project package.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2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023360" cy="4023360"/>
          </a:xfrm>
          <a:prstGeom prst="ellipse">
            <a:avLst/>
          </a:prstGeom>
          <a:solidFill>
            <a:srgbClr val="6B5844">
              <a:alpha val="50000"/>
            </a:srgbClr>
          </a:solidFill>
          <a:ln w="12700">
            <a:solidFill>
              <a:srgbClr val="6B584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0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the alarm, the only question is who is still inside.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794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0D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that answers it from the network in seconds, with no new tag, no new app and no new hardware.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Hazir</dc:title>
  <dc:subject>PptxGenJS Presentation</dc:subject>
  <dc:creator>Mert Gungor</dc:creator>
  <cp:lastModifiedBy>Mert Gungor</cp:lastModifiedBy>
  <cp:revision>1</cp:revision>
  <dcterms:created xsi:type="dcterms:W3CDTF">2026-08-23T14:53:02Z</dcterms:created>
  <dcterms:modified xsi:type="dcterms:W3CDTF">2026-08-23T14:53:02Z</dcterms:modified>
</cp:coreProperties>
</file>